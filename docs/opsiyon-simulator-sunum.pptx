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Opsiyon Dersi Simülatörü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108960"/>
            <a:ext cx="109728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Greek'lerin opsiyon fiyatına etkisini interaktif olarak öğren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Yahoo Finance canlı veri  ·  Black-Scholes modeli  ·  Görsel senaryo testleri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Eğitim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37160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Amaç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Opsiyon fiyatı neye, ne kadar tepki verir?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Gerçek para riske etmeden, gerçek piyasa verisiyle dene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Delta · Theta · Vega ve IV / spot / zaman etkilerini canlı gör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"Eğer spot şuraya gelirse, IV şu kadar düşerse → primim ne olur?" sorusunun cevabı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Calibri"/>
              </a:rPr>
              <a:t>Black-Scholes'un kalbini sezgisel olarak kavra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Genel Özellikler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Canlı Veri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Yahoo Finance opsiyon zinciri:
vade, strike, IV, bid/ask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73152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İki Eğri Karşılaştırma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Orijinal Greek (gri) vs.
slider ile oynanan (yeşil)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73152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İki Grafik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Fiyat grafiği (spot aralığı)
K/Z grafiği (zaman ekseni)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520440"/>
            <a:ext cx="73152" cy="4572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02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Sliderlar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Delta · Theta · Vega
+ spot / IV / kalan gün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33756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52044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502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Kontrat Adedi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77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1 kontrat = 100 hisse
Toplam maliyet otomatik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37560"/>
            <a:ext cx="3566160" cy="155448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520440"/>
            <a:ext cx="73152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5021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Sözlük + İpuçları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77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ITM/ATM/OTM/IV dinamik
açıklamalar her kutucukta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Temel Terimler — Sözlük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Strike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Opsiyonu kullandığında hisseyi alacağın (Call) /
satacağın (Put) fiyat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Calibri"/>
              </a:rPr>
              <a:t>Prim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1 hisse başına ödenen opsiyon fiyatı.
1 kontrat maliyeti = Prim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Calibri"/>
              </a:rPr>
              <a:t>ITM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385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In The Money: opsiyon kârda
Call: spot &gt; strike  /  Put: spot &lt; strike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78608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70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ATM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6265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At The Money: strike ≈ spot
(±%1 yakınında)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578608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670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85A30"/>
                </a:solidFill>
                <a:latin typeface="Calibri"/>
              </a:rPr>
              <a:t>OTM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6265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Out of The Money: kârsız taraf
(Call: spot &lt; strike)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578608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6265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Implied Volatility — örtük yıllık oynaklık
Yüksek IV = prim pahalı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02736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6941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Calibri"/>
              </a:rPr>
              <a:t>Delta (Δ)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867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Spot 1$ artarsa prim ne kadar değişir
Call: 0..1, Put: -1..0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602736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6941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85A30"/>
                </a:solidFill>
                <a:latin typeface="Calibri"/>
              </a:rPr>
              <a:t>Theta (Θ)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867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Günlük zaman erimesi (negatif)
OTM'de daha hızlı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02736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6941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Vega (ν)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9867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IV 1 puan artarsa prim ne kadar değişir
ATM'de en yüksek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26864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7183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Breakeven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0109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7534E"/>
                </a:solidFill>
                <a:latin typeface="Calibri"/>
              </a:rPr>
              <a:t>Vade sonunda kâra geçmek için
spot bu seviyeyi geçmeli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Kullanım Akışı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14884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Sembol 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</a:rPr>
              <a:t>TSLA, AAPL, NVDA...
şirket adı da yazabilirsin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148840"/>
            <a:ext cx="777240" cy="77724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Kontrat Seç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</a:rPr>
              <a:t>Vade · Call/Put · Strike
(ATM yakın 30/100/200)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14884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200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Slider'larla Oyna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</a:rPr>
              <a:t>Spot, IV, gün veya
Delta/Theta/Vega doğrudan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828800"/>
            <a:ext cx="2606040" cy="32004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148840"/>
            <a:ext cx="777240" cy="77724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2004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Senaryo Tıkla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</a:rPr>
              <a:t>Grafikte noktaya tıkla
→ K/Z anında hesaplanır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Kontrol Listesi — Greek Davranışları (Call için)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148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Slider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Beklenen Davranış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Kontrol 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F3A"/>
                          </a:solidFill>
                          <a:latin typeface="Calibri"/>
                        </a:rPr>
                        <a:t>Spot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Prim artar (Delta pozitif)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Eğri sola → yukarı kayıyor mu?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F3A"/>
                          </a:solidFill>
                          <a:latin typeface="Calibri"/>
                        </a:rPr>
                        <a:t>Kalan gün ↓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Prim azalır (Theta erimesi)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OTM'de daha mı hızlı eriyor?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F3A"/>
                          </a:solidFill>
                          <a:latin typeface="Calibri"/>
                        </a:rPr>
                        <a:t>IV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Prim artar (Vega pozitif)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ATM'de etki en büyük mü?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F3A"/>
                          </a:solidFill>
                          <a:latin typeface="Calibri"/>
                        </a:rPr>
                        <a:t>Spot = Strike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Delta ≈ 0.5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Doğrulanıyor mu?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0B1F3A"/>
                          </a:solidFill>
                          <a:latin typeface="Calibri"/>
                        </a:rPr>
                        <a:t>Vade günü, spot = 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Zaman değeri 0 → tüm prim kayıp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57534E"/>
                          </a:solidFill>
                          <a:latin typeface="Calibri"/>
                        </a:rPr>
                        <a:t>Doğrulanıyor mu?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Calibri"/>
              </a:rPr>
              <a:t>Kritik Sorular — Kendine 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Theta tuzağı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Aynı spot, sadece 7 gün geçti — kaybın ne kadar?
Özellikle OTM'de şok yaşayabilirsin.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38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65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IV crush (IV çöküşü)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IV %58'den %35'e düşerse primim ne olur?
Kazanç sayfasından sonra yaşanır — pozisyonu mahvedebilir.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389120"/>
            <a:ext cx="457200" cy="45720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Breakeven mantığı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Vade günü spot = strike → kâr mı zarar mı?
Cevap: tam primi kaybedersin (zaman değeri 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4389120"/>
            <a:ext cx="457200" cy="45720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407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Kontrat adedi etkisi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1 yerine 5 kontrat → dolar K/Z × 5, ama % K/Z aynı.
Oran toplam maliyet bazlı hesaplanır.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731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⚠ Önemli Uyarı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85A30"/>
                </a:solidFill>
                <a:latin typeface="Calibri"/>
              </a:rPr>
              <a:t>Bu araç yalnızca eğitim amaçlıdır.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Gerçek alım-satım kararı için kullanma
• Black-Scholes basitleştirilmiş bir modeldir (kâr payı, faiz, Amerikan tipi erken kullanım hariç)
• Yahoo'nun IV / bid-ask verisi zaman zaman eksik veya gecikmeli olabilir
• Düşük likiditeli kontratlarda fiyat sapmaları büyük olur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D9E75"/>
                </a:solidFill>
                <a:latin typeface="Calibri"/>
              </a:rPr>
              <a:t>Hazırsan başla → bir sembol ara, oyna, 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CCD4"/>
                </a:solidFill>
                <a:latin typeface="Calibri"/>
              </a:rPr>
              <a:t>Opsiyonların kalbi: zaman, oynaklık, ve mesafe.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